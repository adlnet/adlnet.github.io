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EDD"/>
    <a:srgbClr val="000000"/>
    <a:srgbClr val="F2F1EC"/>
    <a:srgbClr val="DDDCD8"/>
    <a:srgbClr val="6CB2EF"/>
    <a:srgbClr val="B5B4B2"/>
    <a:srgbClr val="FFFFFF"/>
    <a:srgbClr val="F7E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CE0FE-B47C-50CC-5828-9D028F363036}" v="45" dt="2024-11-07T15:10:55.530"/>
    <p1510:client id="{62DA7A27-D1A9-4092-936E-63C1ECF5A74A}" v="3888" dt="2024-11-06T16:19:40.733"/>
    <p1510:client id="{C4A0FEB3-BAD4-412E-9A35-D9638AD53722}" v="247" dt="2024-11-06T15:18:10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openclipart.org/detail/21763" TargetMode="External"/><Relationship Id="rId7" Type="http://schemas.openxmlformats.org/officeDocument/2006/relationships/hyperlink" Target="https://pxhere.com/en/photo/103785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s://commons.wikimedia.org/wiki/File:Festival_automobile_international_2014_-_Alfa_Romeo_4C_-_033.jpg" TargetMode="External"/><Relationship Id="rId4" Type="http://schemas.openxmlformats.org/officeDocument/2006/relationships/image" Target="../media/image2.jpeg"/><Relationship Id="rId9" Type="http://schemas.openxmlformats.org/officeDocument/2006/relationships/hyperlink" Target="https://pixabay.com/en/tag-label-yellow-price-tag-151102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www.aliem.com/2016/team-based-learning-2016-jgme-aliem-hot-topics-in-medical-education/" TargetMode="External"/><Relationship Id="rId7" Type="http://schemas.openxmlformats.org/officeDocument/2006/relationships/hyperlink" Target="https://pixabay.com/ko/%ED%9A%8C%EC%9D%98-%EC%BB%A8%ED%8D%BC%EB%9F%B0%EC%8A%A4-%EC%BB%A8%ED%8D%BC%EB%9F%B0%EC%8A%A4-%EB%A3%B8-%ED%94%84%EB%A0%88-%EC%A0%A0-%ED%85%8C%EC%9D%B4%EC%85%98-%EA%B8%B0%EC%97%85-%EC%84%B8%EB%AF%B8%EB%82%98-311355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www.pictofigo.com/image-detail/775/Meeting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techiners.blogspot.com/2017/05/how-to-achieve-service-quality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www.aliem.com/2016/team-based-learning-2016-jgme-aliem-hot-topics-in-medical-education/" TargetMode="External"/><Relationship Id="rId7" Type="http://schemas.openxmlformats.org/officeDocument/2006/relationships/hyperlink" Target="https://pixabay.com/ko/%ED%9A%8C%EC%9D%98-%EC%BB%A8%ED%8D%BC%EB%9F%B0%EC%8A%A4-%EC%BB%A8%ED%8D%BC%EB%9F%B0%EC%8A%A4-%EB%A3%B8-%ED%94%84%EB%A0%88-%EC%A0%A0-%ED%85%8C%EC%9D%B4%EC%85%98-%EA%B8%B0%EC%97%85-%EC%84%B8%EB%AF%B8%EB%82%98-311355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www.pictofigo.com/image-detail/775/Meeting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techiners.blogspot.com/2017/05/how-to-achieve-service-quality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UID and CCV Applied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ZT Attributes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4CA9-6B27-ABE4-4654-983AE0AE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UID for ZT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B658-A880-D8DE-B068-53A9226ED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217" y="1644712"/>
            <a:ext cx="4309227" cy="216291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Attributes and Logic Rules are digital assets</a:t>
            </a:r>
          </a:p>
          <a:p>
            <a:r>
              <a:rPr lang="en-US"/>
              <a:t>Every DoD asset instance should be discretely tracked</a:t>
            </a:r>
          </a:p>
          <a:p>
            <a:r>
              <a:rPr lang="en-US"/>
              <a:t>ZT owns specific Attributes</a:t>
            </a:r>
          </a:p>
          <a:p>
            <a:r>
              <a:rPr lang="en-US"/>
              <a:t>ZT oversees Access Control behavioral outcomes</a:t>
            </a:r>
            <a:endParaRPr lang="en-US" sz="1400"/>
          </a:p>
          <a:p>
            <a:pPr marL="0" indent="0">
              <a:buNone/>
            </a:pPr>
            <a:endParaRPr lang="en-US"/>
          </a:p>
        </p:txBody>
      </p:sp>
      <p:pic>
        <p:nvPicPr>
          <p:cNvPr id="31" name="Picture 30" descr="A blue sports car with a black background&#10;&#10;Description automatically generated">
            <a:extLst>
              <a:ext uri="{FF2B5EF4-FFF2-40B4-BE49-F238E27FC236}">
                <a16:creationId xmlns:a16="http://schemas.microsoft.com/office/drawing/2014/main" id="{997C4E58-01D4-4FD8-96B4-D33E0CF3D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50160" y="5368943"/>
            <a:ext cx="1487293" cy="694690"/>
          </a:xfrm>
          <a:prstGeom prst="rect">
            <a:avLst/>
          </a:prstGeom>
        </p:spPr>
      </p:pic>
      <p:pic>
        <p:nvPicPr>
          <p:cNvPr id="33" name="Picture 32" descr="A red sports car on a white surface&#10;&#10;Description automatically generated">
            <a:extLst>
              <a:ext uri="{FF2B5EF4-FFF2-40B4-BE49-F238E27FC236}">
                <a16:creationId xmlns:a16="http://schemas.microsoft.com/office/drawing/2014/main" id="{B722A7EC-0D72-CD60-1903-72487D1EFA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022269" y="3616781"/>
            <a:ext cx="1743075" cy="1162050"/>
          </a:xfrm>
          <a:prstGeom prst="rect">
            <a:avLst/>
          </a:prstGeom>
        </p:spPr>
      </p:pic>
      <p:pic>
        <p:nvPicPr>
          <p:cNvPr id="35" name="Picture 34" descr="A red sports car with black background&#10;&#10;Description automatically generated">
            <a:extLst>
              <a:ext uri="{FF2B5EF4-FFF2-40B4-BE49-F238E27FC236}">
                <a16:creationId xmlns:a16="http://schemas.microsoft.com/office/drawing/2014/main" id="{5A5F95F1-274C-DBE7-D6E2-4707F759E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949773" y="1769485"/>
            <a:ext cx="1888066" cy="1062037"/>
          </a:xfrm>
          <a:prstGeom prst="rect">
            <a:avLst/>
          </a:prstGeom>
        </p:spPr>
      </p:pic>
      <p:sp>
        <p:nvSpPr>
          <p:cNvPr id="37" name="TextBox 30">
            <a:extLst>
              <a:ext uri="{FF2B5EF4-FFF2-40B4-BE49-F238E27FC236}">
                <a16:creationId xmlns:a16="http://schemas.microsoft.com/office/drawing/2014/main" id="{EE63A90F-1812-0DE8-E56D-1614B2CC019D}"/>
              </a:ext>
            </a:extLst>
          </p:cNvPr>
          <p:cNvSpPr txBox="1"/>
          <p:nvPr/>
        </p:nvSpPr>
        <p:spPr>
          <a:xfrm>
            <a:off x="9436085" y="3031548"/>
            <a:ext cx="91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Vehicle</a:t>
            </a:r>
          </a:p>
        </p:txBody>
      </p:sp>
      <p:sp>
        <p:nvSpPr>
          <p:cNvPr id="39" name="TextBox 31">
            <a:extLst>
              <a:ext uri="{FF2B5EF4-FFF2-40B4-BE49-F238E27FC236}">
                <a16:creationId xmlns:a16="http://schemas.microsoft.com/office/drawing/2014/main" id="{26A6AC6F-D406-272F-39A3-F5A296FE1255}"/>
              </a:ext>
            </a:extLst>
          </p:cNvPr>
          <p:cNvSpPr txBox="1"/>
          <p:nvPr/>
        </p:nvSpPr>
        <p:spPr>
          <a:xfrm>
            <a:off x="9224168" y="4706322"/>
            <a:ext cx="133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Automobile</a:t>
            </a:r>
          </a:p>
        </p:txBody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CEB4E82C-C36A-7E33-9EC8-085D27DC3DFD}"/>
              </a:ext>
            </a:extLst>
          </p:cNvPr>
          <p:cNvSpPr txBox="1"/>
          <p:nvPr/>
        </p:nvSpPr>
        <p:spPr>
          <a:xfrm>
            <a:off x="9621135" y="6056886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Car</a:t>
            </a:r>
          </a:p>
        </p:txBody>
      </p:sp>
      <p:pic>
        <p:nvPicPr>
          <p:cNvPr id="43" name="Picture 42" descr="A yellow tag with a string&#10;&#10;Description automatically generated">
            <a:extLst>
              <a:ext uri="{FF2B5EF4-FFF2-40B4-BE49-F238E27FC236}">
                <a16:creationId xmlns:a16="http://schemas.microsoft.com/office/drawing/2014/main" id="{AA48FE0F-883B-CDA3-7EC1-99A93D81CB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664011" y="2882918"/>
            <a:ext cx="1505886" cy="1272580"/>
          </a:xfrm>
          <a:prstGeom prst="rect">
            <a:avLst/>
          </a:prstGeom>
        </p:spPr>
      </p:pic>
      <p:sp>
        <p:nvSpPr>
          <p:cNvPr id="45" name="TextBox 35">
            <a:extLst>
              <a:ext uri="{FF2B5EF4-FFF2-40B4-BE49-F238E27FC236}">
                <a16:creationId xmlns:a16="http://schemas.microsoft.com/office/drawing/2014/main" id="{EFB77209-0958-ED61-0297-C77364544103}"/>
              </a:ext>
            </a:extLst>
          </p:cNvPr>
          <p:cNvSpPr txBox="1"/>
          <p:nvPr/>
        </p:nvSpPr>
        <p:spPr>
          <a:xfrm rot="19539621">
            <a:off x="6878799" y="3351161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0xA1543C63</a:t>
            </a:r>
          </a:p>
        </p:txBody>
      </p:sp>
      <p:sp>
        <p:nvSpPr>
          <p:cNvPr id="47" name="TextBox 36">
            <a:extLst>
              <a:ext uri="{FF2B5EF4-FFF2-40B4-BE49-F238E27FC236}">
                <a16:creationId xmlns:a16="http://schemas.microsoft.com/office/drawing/2014/main" id="{4E53C54E-163F-BF2C-C8E1-395CDFFA3049}"/>
              </a:ext>
            </a:extLst>
          </p:cNvPr>
          <p:cNvSpPr txBox="1"/>
          <p:nvPr/>
        </p:nvSpPr>
        <p:spPr>
          <a:xfrm>
            <a:off x="6226649" y="2401655"/>
            <a:ext cx="10708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Controlled</a:t>
            </a:r>
          </a:p>
          <a:p>
            <a:r>
              <a:rPr lang="en-US" sz="1400"/>
              <a:t>Vocabulary</a:t>
            </a:r>
          </a:p>
          <a:p>
            <a:r>
              <a:rPr lang="en-US" sz="1400"/>
              <a:t>Term</a:t>
            </a:r>
          </a:p>
        </p:txBody>
      </p:sp>
      <p:sp>
        <p:nvSpPr>
          <p:cNvPr id="49" name="TextBox 37">
            <a:extLst>
              <a:ext uri="{FF2B5EF4-FFF2-40B4-BE49-F238E27FC236}">
                <a16:creationId xmlns:a16="http://schemas.microsoft.com/office/drawing/2014/main" id="{16DA8474-7EA3-6672-BE04-D3D0AB903224}"/>
              </a:ext>
            </a:extLst>
          </p:cNvPr>
          <p:cNvSpPr txBox="1"/>
          <p:nvPr/>
        </p:nvSpPr>
        <p:spPr>
          <a:xfrm>
            <a:off x="7135605" y="1133956"/>
            <a:ext cx="513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Tag</a:t>
            </a:r>
          </a:p>
        </p:txBody>
      </p:sp>
      <p:sp>
        <p:nvSpPr>
          <p:cNvPr id="51" name="TextBox 38">
            <a:extLst>
              <a:ext uri="{FF2B5EF4-FFF2-40B4-BE49-F238E27FC236}">
                <a16:creationId xmlns:a16="http://schemas.microsoft.com/office/drawing/2014/main" id="{84295278-2F8B-E124-F3D9-4602392F85A1}"/>
              </a:ext>
            </a:extLst>
          </p:cNvPr>
          <p:cNvSpPr txBox="1"/>
          <p:nvPr/>
        </p:nvSpPr>
        <p:spPr>
          <a:xfrm>
            <a:off x="10850468" y="856957"/>
            <a:ext cx="8322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/>
              <a:t>Label</a:t>
            </a:r>
          </a:p>
          <a:p>
            <a:pPr algn="ctr">
              <a:lnSpc>
                <a:spcPts val="1200"/>
              </a:lnSpc>
            </a:pPr>
            <a:r>
              <a:rPr lang="en-US" sz="1200"/>
              <a:t>or</a:t>
            </a:r>
            <a:r>
              <a:rPr lang="en-US"/>
              <a:t> </a:t>
            </a:r>
          </a:p>
          <a:p>
            <a:pPr algn="ctr"/>
            <a:r>
              <a:rPr lang="en-US"/>
              <a:t>Alias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0DB24A2-C654-34C8-E43B-F4691720EC12}"/>
              </a:ext>
            </a:extLst>
          </p:cNvPr>
          <p:cNvCxnSpPr/>
          <p:nvPr/>
        </p:nvCxnSpPr>
        <p:spPr>
          <a:xfrm>
            <a:off x="7392375" y="1503288"/>
            <a:ext cx="24579" cy="1379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A759F11F-22C4-44AB-C73C-67723F8C081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20037" y="3216213"/>
            <a:ext cx="1916048" cy="299457"/>
          </a:xfrm>
          <a:prstGeom prst="bentConnector4">
            <a:avLst>
              <a:gd name="adj1" fmla="val 47229"/>
              <a:gd name="adj2" fmla="val 176338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41">
            <a:extLst>
              <a:ext uri="{FF2B5EF4-FFF2-40B4-BE49-F238E27FC236}">
                <a16:creationId xmlns:a16="http://schemas.microsoft.com/office/drawing/2014/main" id="{EB97FAE6-16CF-16E0-568E-6E28094E95C1}"/>
              </a:ext>
            </a:extLst>
          </p:cNvPr>
          <p:cNvSpPr txBox="1"/>
          <p:nvPr/>
        </p:nvSpPr>
        <p:spPr>
          <a:xfrm>
            <a:off x="1015279" y="5318109"/>
            <a:ext cx="4562467" cy="90024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u="sng"/>
              <a:t>Atomic definition for Automobile:</a:t>
            </a:r>
            <a:br>
              <a:rPr lang="en-US" sz="1400" u="sng"/>
            </a:br>
            <a:r>
              <a:rPr lang="en-US" sz="1400"/>
              <a:t>A vehicle to transport passengers on conditioned surfaces.</a:t>
            </a:r>
          </a:p>
          <a:p>
            <a:endParaRPr lang="en-US" sz="1400"/>
          </a:p>
          <a:p>
            <a:r>
              <a:rPr lang="en-US" sz="1050" b="1"/>
              <a:t>Note:  The UID is a local UID and should have the Parent Preamble pre-pended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4A89C82-2D5A-9C3E-C70C-66A97BFDC1C5}"/>
              </a:ext>
            </a:extLst>
          </p:cNvPr>
          <p:cNvCxnSpPr>
            <a:cxnSpLocks/>
          </p:cNvCxnSpPr>
          <p:nvPr/>
        </p:nvCxnSpPr>
        <p:spPr>
          <a:xfrm flipH="1">
            <a:off x="5722978" y="3777755"/>
            <a:ext cx="1244833" cy="1933709"/>
          </a:xfrm>
          <a:prstGeom prst="bentConnector3">
            <a:avLst>
              <a:gd name="adj1" fmla="val 11112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EA25F5E-F094-0FD4-4941-E1BA83ADC029}"/>
              </a:ext>
            </a:extLst>
          </p:cNvPr>
          <p:cNvCxnSpPr>
            <a:cxnSpLocks/>
          </p:cNvCxnSpPr>
          <p:nvPr/>
        </p:nvCxnSpPr>
        <p:spPr>
          <a:xfrm flipV="1">
            <a:off x="6401717" y="1659766"/>
            <a:ext cx="5410233" cy="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88749080-7D2B-A9E1-A338-676D12EC75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19245" y="2983158"/>
            <a:ext cx="234982" cy="549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45">
            <a:extLst>
              <a:ext uri="{FF2B5EF4-FFF2-40B4-BE49-F238E27FC236}">
                <a16:creationId xmlns:a16="http://schemas.microsoft.com/office/drawing/2014/main" id="{2BCEE89E-DCEE-2B9C-BBA6-502F5832EA3B}"/>
              </a:ext>
            </a:extLst>
          </p:cNvPr>
          <p:cNvSpPr txBox="1"/>
          <p:nvPr/>
        </p:nvSpPr>
        <p:spPr>
          <a:xfrm>
            <a:off x="7722365" y="4883745"/>
            <a:ext cx="1309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Pointer to </a:t>
            </a:r>
            <a:r>
              <a:rPr lang="en-US" sz="1000" b="1" i="1" u="sng"/>
              <a:t>Term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4F0D87E-C13F-568F-0E17-2ABB2815671C}"/>
              </a:ext>
            </a:extLst>
          </p:cNvPr>
          <p:cNvCxnSpPr>
            <a:cxnSpLocks/>
          </p:cNvCxnSpPr>
          <p:nvPr/>
        </p:nvCxnSpPr>
        <p:spPr>
          <a:xfrm rot="5400000">
            <a:off x="8362799" y="3337744"/>
            <a:ext cx="4707487" cy="1100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CF7F50E6-458F-B29C-C8F3-D0C165FAFDF1}"/>
              </a:ext>
            </a:extLst>
          </p:cNvPr>
          <p:cNvCxnSpPr>
            <a:cxnSpLocks/>
          </p:cNvCxnSpPr>
          <p:nvPr/>
        </p:nvCxnSpPr>
        <p:spPr>
          <a:xfrm rot="5400000">
            <a:off x="9236565" y="2860946"/>
            <a:ext cx="3356923" cy="7031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A3C4BCA-FD57-BBEC-B041-BF1C92CC29B6}"/>
              </a:ext>
            </a:extLst>
          </p:cNvPr>
          <p:cNvCxnSpPr>
            <a:cxnSpLocks/>
          </p:cNvCxnSpPr>
          <p:nvPr/>
        </p:nvCxnSpPr>
        <p:spPr>
          <a:xfrm rot="5400000">
            <a:off x="9967993" y="1917600"/>
            <a:ext cx="1682149" cy="9150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94BE4A0-C5B1-DCDC-6867-C393821D1649}"/>
              </a:ext>
            </a:extLst>
          </p:cNvPr>
          <p:cNvCxnSpPr>
            <a:cxnSpLocks/>
          </p:cNvCxnSpPr>
          <p:nvPr/>
        </p:nvCxnSpPr>
        <p:spPr>
          <a:xfrm rot="10800000">
            <a:off x="7520038" y="3515672"/>
            <a:ext cx="1704131" cy="1375317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45BDFA43-DA91-685C-FF77-A9F9B5F1E95A}"/>
              </a:ext>
            </a:extLst>
          </p:cNvPr>
          <p:cNvCxnSpPr>
            <a:cxnSpLocks/>
          </p:cNvCxnSpPr>
          <p:nvPr/>
        </p:nvCxnSpPr>
        <p:spPr>
          <a:xfrm rot="10800000">
            <a:off x="7520037" y="3515672"/>
            <a:ext cx="2101098" cy="2725881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51">
            <a:extLst>
              <a:ext uri="{FF2B5EF4-FFF2-40B4-BE49-F238E27FC236}">
                <a16:creationId xmlns:a16="http://schemas.microsoft.com/office/drawing/2014/main" id="{0EC62C55-5375-C5A4-1AAA-77E7694669A8}"/>
              </a:ext>
            </a:extLst>
          </p:cNvPr>
          <p:cNvSpPr txBox="1"/>
          <p:nvPr/>
        </p:nvSpPr>
        <p:spPr>
          <a:xfrm rot="5400000">
            <a:off x="6320891" y="4746719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Pointer to </a:t>
            </a:r>
            <a:r>
              <a:rPr lang="en-US" sz="1000" b="1" i="1" u="sng"/>
              <a:t>Definition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AF8D501-0E1B-79C4-DD00-353AB38B40AB}"/>
              </a:ext>
            </a:extLst>
          </p:cNvPr>
          <p:cNvSpPr/>
          <p:nvPr/>
        </p:nvSpPr>
        <p:spPr>
          <a:xfrm>
            <a:off x="7413854" y="3323680"/>
            <a:ext cx="212366" cy="191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0" name="Picture 79" descr="A yellow tag with a string&#10;&#10;Description automatically generated">
            <a:extLst>
              <a:ext uri="{FF2B5EF4-FFF2-40B4-BE49-F238E27FC236}">
                <a16:creationId xmlns:a16="http://schemas.microsoft.com/office/drawing/2014/main" id="{9F31F290-D3CD-C17F-207A-19B6168E842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378010" y="4138486"/>
            <a:ext cx="1505886" cy="1272580"/>
          </a:xfrm>
          <a:prstGeom prst="rect">
            <a:avLst/>
          </a:prstGeom>
          <a:ln>
            <a:noFill/>
          </a:ln>
        </p:spPr>
      </p:pic>
      <p:sp>
        <p:nvSpPr>
          <p:cNvPr id="81" name="TextBox 36">
            <a:extLst>
              <a:ext uri="{FF2B5EF4-FFF2-40B4-BE49-F238E27FC236}">
                <a16:creationId xmlns:a16="http://schemas.microsoft.com/office/drawing/2014/main" id="{39281EB0-1641-E23D-B1E1-2B69FEDCC596}"/>
              </a:ext>
            </a:extLst>
          </p:cNvPr>
          <p:cNvSpPr txBox="1"/>
          <p:nvPr/>
        </p:nvSpPr>
        <p:spPr>
          <a:xfrm>
            <a:off x="4255846" y="3707790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UID</a:t>
            </a: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66ED1033-76B9-88C7-13C6-E304DE5FA999}"/>
              </a:ext>
            </a:extLst>
          </p:cNvPr>
          <p:cNvSpPr txBox="1"/>
          <p:nvPr/>
        </p:nvSpPr>
        <p:spPr>
          <a:xfrm rot="19539621">
            <a:off x="4596047" y="4596791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0x10C4998A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853AC75-51A6-8B16-64EC-F796577ED4F9}"/>
              </a:ext>
            </a:extLst>
          </p:cNvPr>
          <p:cNvCxnSpPr>
            <a:cxnSpLocks/>
            <a:stCxn id="80" idx="3"/>
            <a:endCxn id="43" idx="1"/>
          </p:cNvCxnSpPr>
          <p:nvPr/>
        </p:nvCxnSpPr>
        <p:spPr>
          <a:xfrm flipV="1">
            <a:off x="5883896" y="3519208"/>
            <a:ext cx="780115" cy="125556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4496D9B-B076-6628-DDA1-02D17CA51DA3}"/>
              </a:ext>
            </a:extLst>
          </p:cNvPr>
          <p:cNvCxnSpPr>
            <a:cxnSpLocks/>
            <a:stCxn id="81" idx="2"/>
            <a:endCxn id="4" idx="0"/>
          </p:cNvCxnSpPr>
          <p:nvPr/>
        </p:nvCxnSpPr>
        <p:spPr>
          <a:xfrm rot="16200000" flipH="1">
            <a:off x="4569671" y="4186008"/>
            <a:ext cx="451475" cy="4183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E4551E5-2937-E4FD-2DE4-9E1494E783FC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>
            <a:off x="5202934" y="1949045"/>
            <a:ext cx="2635198" cy="1743684"/>
          </a:xfrm>
          <a:prstGeom prst="bentConnector3">
            <a:avLst>
              <a:gd name="adj1" fmla="val 183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1">
            <a:extLst>
              <a:ext uri="{FF2B5EF4-FFF2-40B4-BE49-F238E27FC236}">
                <a16:creationId xmlns:a16="http://schemas.microsoft.com/office/drawing/2014/main" id="{F8381676-F7D7-83B0-6FB4-3EC58ADF7B6E}"/>
              </a:ext>
            </a:extLst>
          </p:cNvPr>
          <p:cNvSpPr txBox="1"/>
          <p:nvPr/>
        </p:nvSpPr>
        <p:spPr>
          <a:xfrm rot="5400000">
            <a:off x="5862468" y="4161941"/>
            <a:ext cx="11448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Asset </a:t>
            </a:r>
            <a:r>
              <a:rPr lang="en-US" sz="1000" b="1" u="sng"/>
              <a:t>Tracking</a:t>
            </a:r>
            <a:r>
              <a:rPr lang="en-US" sz="1000"/>
              <a:t> Tag</a:t>
            </a:r>
            <a:endParaRPr lang="en-US" sz="1000" b="1" i="1" u="sng"/>
          </a:p>
        </p:txBody>
      </p:sp>
    </p:spTree>
    <p:extLst>
      <p:ext uri="{BB962C8B-B14F-4D97-AF65-F5344CB8AC3E}">
        <p14:creationId xmlns:p14="http://schemas.microsoft.com/office/powerpoint/2010/main" val="2973956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24EB5C1-D851-C9B9-BDD4-56590843138F}"/>
              </a:ext>
            </a:extLst>
          </p:cNvPr>
          <p:cNvSpPr/>
          <p:nvPr/>
        </p:nvSpPr>
        <p:spPr>
          <a:xfrm>
            <a:off x="3644921" y="2926084"/>
            <a:ext cx="913539" cy="173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B6717F-9AAE-1BBA-6C37-4908FB06BE67}"/>
              </a:ext>
            </a:extLst>
          </p:cNvPr>
          <p:cNvSpPr/>
          <p:nvPr/>
        </p:nvSpPr>
        <p:spPr>
          <a:xfrm>
            <a:off x="3644920" y="3298911"/>
            <a:ext cx="913539" cy="173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109BB8-4F8B-9DDE-08B2-A9F01FE5916D}"/>
              </a:ext>
            </a:extLst>
          </p:cNvPr>
          <p:cNvSpPr/>
          <p:nvPr/>
        </p:nvSpPr>
        <p:spPr>
          <a:xfrm>
            <a:off x="3644920" y="3800574"/>
            <a:ext cx="913539" cy="173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A7D508-BE47-F753-84FA-52EBA937603F}"/>
              </a:ext>
            </a:extLst>
          </p:cNvPr>
          <p:cNvSpPr/>
          <p:nvPr/>
        </p:nvSpPr>
        <p:spPr>
          <a:xfrm>
            <a:off x="3644920" y="4286352"/>
            <a:ext cx="913539" cy="173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F382EB-D4B1-EC54-B3A6-ACD9AF5F0B46}"/>
              </a:ext>
            </a:extLst>
          </p:cNvPr>
          <p:cNvSpPr/>
          <p:nvPr/>
        </p:nvSpPr>
        <p:spPr>
          <a:xfrm>
            <a:off x="2909590" y="5910171"/>
            <a:ext cx="913539" cy="173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07E8C-7B55-16AB-C683-49E83E2E94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6"/>
            <a:ext cx="10515600" cy="646332"/>
          </a:xfrm>
        </p:spPr>
        <p:txBody>
          <a:bodyPr>
            <a:normAutofit fontScale="90000"/>
          </a:bodyPr>
          <a:lstStyle/>
          <a:p>
            <a:r>
              <a:rPr lang="en-US"/>
              <a:t>Applying UID to ZT Attributes</a:t>
            </a:r>
          </a:p>
        </p:txBody>
      </p:sp>
      <p:pic>
        <p:nvPicPr>
          <p:cNvPr id="4" name="Picture 3" descr="A group of white people sitting in chairs&#10;&#10;Description automatically generated">
            <a:extLst>
              <a:ext uri="{FF2B5EF4-FFF2-40B4-BE49-F238E27FC236}">
                <a16:creationId xmlns:a16="http://schemas.microsoft.com/office/drawing/2014/main" id="{FCC03786-02B8-8129-DE9B-998586E9C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8980" y="1403790"/>
            <a:ext cx="1660820" cy="1038013"/>
          </a:xfrm>
          <a:prstGeom prst="rect">
            <a:avLst/>
          </a:prstGeom>
        </p:spPr>
      </p:pic>
      <p:pic>
        <p:nvPicPr>
          <p:cNvPr id="5" name="Picture 4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A6218259-B59D-E3AF-8CB1-4D39F8F50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574378" y="1403790"/>
            <a:ext cx="1450193" cy="942625"/>
          </a:xfrm>
          <a:prstGeom prst="rect">
            <a:avLst/>
          </a:prstGeom>
        </p:spPr>
      </p:pic>
      <p:pic>
        <p:nvPicPr>
          <p:cNvPr id="6" name="Picture 5" descr="Silhouette of people sitting around a table&#10;&#10;Description automatically generated">
            <a:extLst>
              <a:ext uri="{FF2B5EF4-FFF2-40B4-BE49-F238E27FC236}">
                <a16:creationId xmlns:a16="http://schemas.microsoft.com/office/drawing/2014/main" id="{6717D431-D66C-1B43-EC63-6C165FACE4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41909" y="1132025"/>
            <a:ext cx="2003803" cy="1486154"/>
          </a:xfrm>
          <a:prstGeom prst="rect">
            <a:avLst/>
          </a:prstGeom>
        </p:spPr>
      </p:pic>
      <p:pic>
        <p:nvPicPr>
          <p:cNvPr id="7" name="Picture 6" descr="A group of small people holding puzzle pieces&#10;&#10;Description automatically generated">
            <a:extLst>
              <a:ext uri="{FF2B5EF4-FFF2-40B4-BE49-F238E27FC236}">
                <a16:creationId xmlns:a16="http://schemas.microsoft.com/office/drawing/2014/main" id="{814A8DBA-902A-A56D-ECD4-E4EA6F1F46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001618" y="1406000"/>
            <a:ext cx="1038013" cy="1038013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411FC1B-81D8-4F1F-80D8-147F5C6B9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857785"/>
              </p:ext>
            </p:extLst>
          </p:nvPr>
        </p:nvGraphicFramePr>
        <p:xfrm>
          <a:off x="315138" y="2499066"/>
          <a:ext cx="2671433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313">
                  <a:extLst>
                    <a:ext uri="{9D8B030D-6E8A-4147-A177-3AD203B41FA5}">
                      <a16:colId xmlns:a16="http://schemas.microsoft.com/office/drawing/2014/main" val="403092291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903237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2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02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0x00000000-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0x00000001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DoD 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92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0x00000000-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0x00000001-</a:t>
                      </a:r>
                    </a:p>
                    <a:p>
                      <a:r>
                        <a:rPr lang="en-US" sz="1400"/>
                        <a:t>0x0000000A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DoD CIO(CS)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15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0x00000000-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0x00000001-</a:t>
                      </a:r>
                    </a:p>
                    <a:p>
                      <a:r>
                        <a:rPr lang="en-US" sz="1400"/>
                        <a:t>0x0000000A-</a:t>
                      </a:r>
                    </a:p>
                    <a:p>
                      <a:r>
                        <a:rPr lang="en-US" sz="1400"/>
                        <a:t>0x00000007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DoD CIO(CS)</a:t>
                      </a:r>
                    </a:p>
                    <a:p>
                      <a:r>
                        <a:rPr lang="en-US" sz="1400"/>
                        <a:t>ZT </a:t>
                      </a:r>
                      <a:r>
                        <a:rPr lang="en-US" sz="1400" err="1"/>
                        <a:t>PfMO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904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C62A46-EEE5-5CFF-B076-9E67B49ADC8B}"/>
              </a:ext>
            </a:extLst>
          </p:cNvPr>
          <p:cNvSpPr txBox="1"/>
          <p:nvPr/>
        </p:nvSpPr>
        <p:spPr>
          <a:xfrm>
            <a:off x="3003560" y="982135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0AB3A-DD86-5850-5DF0-DD4E7F913819}"/>
              </a:ext>
            </a:extLst>
          </p:cNvPr>
          <p:cNvSpPr txBox="1"/>
          <p:nvPr/>
        </p:nvSpPr>
        <p:spPr>
          <a:xfrm>
            <a:off x="4954734" y="982135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DoD CIO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E64C7-4441-092A-7FDA-BC3D66FDCFB4}"/>
              </a:ext>
            </a:extLst>
          </p:cNvPr>
          <p:cNvSpPr txBox="1"/>
          <p:nvPr/>
        </p:nvSpPr>
        <p:spPr>
          <a:xfrm>
            <a:off x="6945167" y="951985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DoD CIO(CS)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0F097-448B-F295-932C-19430176693A}"/>
              </a:ext>
            </a:extLst>
          </p:cNvPr>
          <p:cNvSpPr txBox="1"/>
          <p:nvPr/>
        </p:nvSpPr>
        <p:spPr>
          <a:xfrm>
            <a:off x="8819951" y="911238"/>
            <a:ext cx="1401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DoD CIO(CS) </a:t>
            </a:r>
          </a:p>
          <a:p>
            <a:pPr algn="ctr"/>
            <a:r>
              <a:rPr lang="en-US"/>
              <a:t>ZT </a:t>
            </a:r>
            <a:r>
              <a:rPr lang="en-US" err="1"/>
              <a:t>PfMO</a:t>
            </a:r>
            <a:endParaRPr lang="en-US"/>
          </a:p>
        </p:txBody>
      </p:sp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95E83080-31CC-BFA8-F5DE-617888E6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200006"/>
              </p:ext>
            </p:extLst>
          </p:nvPr>
        </p:nvGraphicFramePr>
        <p:xfrm>
          <a:off x="3595389" y="2499066"/>
          <a:ext cx="8332449" cy="232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951">
                  <a:extLst>
                    <a:ext uri="{9D8B030D-6E8A-4147-A177-3AD203B41FA5}">
                      <a16:colId xmlns:a16="http://schemas.microsoft.com/office/drawing/2014/main" val="4030922911"/>
                    </a:ext>
                  </a:extLst>
                </a:gridCol>
                <a:gridCol w="1361340">
                  <a:extLst>
                    <a:ext uri="{9D8B030D-6E8A-4147-A177-3AD203B41FA5}">
                      <a16:colId xmlns:a16="http://schemas.microsoft.com/office/drawing/2014/main" val="3903237218"/>
                    </a:ext>
                  </a:extLst>
                </a:gridCol>
                <a:gridCol w="4246880">
                  <a:extLst>
                    <a:ext uri="{9D8B030D-6E8A-4147-A177-3AD203B41FA5}">
                      <a16:colId xmlns:a16="http://schemas.microsoft.com/office/drawing/2014/main" val="529841060"/>
                    </a:ext>
                  </a:extLst>
                </a:gridCol>
                <a:gridCol w="1097278">
                  <a:extLst>
                    <a:ext uri="{9D8B030D-6E8A-4147-A177-3AD203B41FA5}">
                      <a16:colId xmlns:a16="http://schemas.microsoft.com/office/drawing/2014/main" val="3186573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Asset Term ID (LCV)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ORG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Community Issued UID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Alias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6692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0x0000E134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0x00000000-0x000B1234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Person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02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0x00062A57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DoD 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0x00000000-0x00000001-0x0000000A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2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0x030115E3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DoD CIO(CS)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0x00000000-0x00000001-0x0000000A-0x00000007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Person-Entity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5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0x0000F901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DoD CIO(CS)</a:t>
                      </a:r>
                    </a:p>
                    <a:p>
                      <a:r>
                        <a:rPr lang="en-US" sz="1300" dirty="0"/>
                        <a:t>ZT </a:t>
                      </a:r>
                      <a:r>
                        <a:rPr lang="en-US" sz="1300" dirty="0" err="1"/>
                        <a:t>PfMO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0x00000000-0x00000001-0x0000000A-0x00000007-0x00034532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9044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011487D-AA7D-FC9A-6AC9-78FAC6E42599}"/>
              </a:ext>
            </a:extLst>
          </p:cNvPr>
          <p:cNvSpPr txBox="1"/>
          <p:nvPr/>
        </p:nvSpPr>
        <p:spPr>
          <a:xfrm>
            <a:off x="540503" y="1550498"/>
            <a:ext cx="1537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Organizational</a:t>
            </a:r>
          </a:p>
          <a:p>
            <a:r>
              <a:rPr lang="en-US"/>
              <a:t>Communities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A235A6-40B0-1D45-52B9-8EDEA909E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0151"/>
              </p:ext>
            </p:extLst>
          </p:nvPr>
        </p:nvGraphicFramePr>
        <p:xfrm>
          <a:off x="1435596" y="5602319"/>
          <a:ext cx="9970697" cy="6134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6644">
                  <a:extLst>
                    <a:ext uri="{9D8B030D-6E8A-4147-A177-3AD203B41FA5}">
                      <a16:colId xmlns:a16="http://schemas.microsoft.com/office/drawing/2014/main" val="796971367"/>
                    </a:ext>
                  </a:extLst>
                </a:gridCol>
                <a:gridCol w="1171787">
                  <a:extLst>
                    <a:ext uri="{9D8B030D-6E8A-4147-A177-3AD203B41FA5}">
                      <a16:colId xmlns:a16="http://schemas.microsoft.com/office/drawing/2014/main" val="3540939679"/>
                    </a:ext>
                  </a:extLst>
                </a:gridCol>
                <a:gridCol w="930457">
                  <a:extLst>
                    <a:ext uri="{9D8B030D-6E8A-4147-A177-3AD203B41FA5}">
                      <a16:colId xmlns:a16="http://schemas.microsoft.com/office/drawing/2014/main" val="487064525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119193723"/>
                    </a:ext>
                  </a:extLst>
                </a:gridCol>
                <a:gridCol w="1070187">
                  <a:extLst>
                    <a:ext uri="{9D8B030D-6E8A-4147-A177-3AD203B41FA5}">
                      <a16:colId xmlns:a16="http://schemas.microsoft.com/office/drawing/2014/main" val="429009589"/>
                    </a:ext>
                  </a:extLst>
                </a:gridCol>
                <a:gridCol w="3600902">
                  <a:extLst>
                    <a:ext uri="{9D8B030D-6E8A-4147-A177-3AD203B41FA5}">
                      <a16:colId xmlns:a16="http://schemas.microsoft.com/office/drawing/2014/main" val="247183665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UID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CCV Term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Alias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Definition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Context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Context Description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98193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{Machine Generated}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{Machine Generated}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Actor   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 participant in a process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Zero Trust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Any process that has an action performed will have an actor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3222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9B6A70B-0BB6-2AF0-FF01-5DC8DF7D5111}"/>
              </a:ext>
            </a:extLst>
          </p:cNvPr>
          <p:cNvSpPr txBox="1"/>
          <p:nvPr/>
        </p:nvSpPr>
        <p:spPr>
          <a:xfrm>
            <a:off x="315138" y="6337648"/>
            <a:ext cx="36471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/>
              <a:t>Note:  This is not live data and for conceptual consideration only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E0C56C7-9193-F8C0-F428-E1EFF55AAD5A}"/>
              </a:ext>
            </a:extLst>
          </p:cNvPr>
          <p:cNvCxnSpPr>
            <a:cxnSpLocks/>
            <a:stCxn id="20" idx="1"/>
            <a:endCxn id="26" idx="1"/>
          </p:cNvCxnSpPr>
          <p:nvPr/>
        </p:nvCxnSpPr>
        <p:spPr>
          <a:xfrm rot="10800000" flipV="1">
            <a:off x="2909591" y="3012917"/>
            <a:ext cx="735331" cy="2984087"/>
          </a:xfrm>
          <a:prstGeom prst="curvedConnector3">
            <a:avLst>
              <a:gd name="adj1" fmla="val 13108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19D3BCAE-FE5E-75D1-38B2-7E4BBE66F0E3}"/>
              </a:ext>
            </a:extLst>
          </p:cNvPr>
          <p:cNvCxnSpPr>
            <a:cxnSpLocks/>
            <a:stCxn id="21" idx="1"/>
            <a:endCxn id="26" idx="1"/>
          </p:cNvCxnSpPr>
          <p:nvPr/>
        </p:nvCxnSpPr>
        <p:spPr>
          <a:xfrm rot="10800000" flipV="1">
            <a:off x="2909590" y="3385745"/>
            <a:ext cx="735330" cy="2611260"/>
          </a:xfrm>
          <a:prstGeom prst="curvedConnector3">
            <a:avLst>
              <a:gd name="adj1" fmla="val 13108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B091B291-D55E-821F-FFC1-BD8069A76932}"/>
              </a:ext>
            </a:extLst>
          </p:cNvPr>
          <p:cNvCxnSpPr>
            <a:cxnSpLocks/>
            <a:stCxn id="22" idx="1"/>
            <a:endCxn id="26" idx="1"/>
          </p:cNvCxnSpPr>
          <p:nvPr/>
        </p:nvCxnSpPr>
        <p:spPr>
          <a:xfrm rot="10800000" flipV="1">
            <a:off x="2909590" y="3887407"/>
            <a:ext cx="735330" cy="2109597"/>
          </a:xfrm>
          <a:prstGeom prst="curvedConnector3">
            <a:avLst>
              <a:gd name="adj1" fmla="val 13108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E5D990B-9626-E4B3-690E-73F0B1CABE28}"/>
              </a:ext>
            </a:extLst>
          </p:cNvPr>
          <p:cNvCxnSpPr>
            <a:cxnSpLocks/>
            <a:stCxn id="23" idx="1"/>
            <a:endCxn id="26" idx="1"/>
          </p:cNvCxnSpPr>
          <p:nvPr/>
        </p:nvCxnSpPr>
        <p:spPr>
          <a:xfrm rot="10800000" flipV="1">
            <a:off x="2909590" y="4373185"/>
            <a:ext cx="735330" cy="1623819"/>
          </a:xfrm>
          <a:prstGeom prst="curvedConnector3">
            <a:avLst>
              <a:gd name="adj1" fmla="val 13108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44EEFEA-5855-68A0-D8B2-2BEA59052BEE}"/>
              </a:ext>
            </a:extLst>
          </p:cNvPr>
          <p:cNvSpPr txBox="1"/>
          <p:nvPr/>
        </p:nvSpPr>
        <p:spPr>
          <a:xfrm>
            <a:off x="2909589" y="4960748"/>
            <a:ext cx="5593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Mapping Local Terms to CCV -</a:t>
            </a:r>
          </a:p>
          <a:p>
            <a:r>
              <a:rPr lang="en-US" sz="1400"/>
              <a:t>allows local independence with semantic congruence and interoperability </a:t>
            </a:r>
          </a:p>
        </p:txBody>
      </p:sp>
    </p:spTree>
    <p:extLst>
      <p:ext uri="{BB962C8B-B14F-4D97-AF65-F5344CB8AC3E}">
        <p14:creationId xmlns:p14="http://schemas.microsoft.com/office/powerpoint/2010/main" val="280405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7E8C-7B55-16AB-C683-49E83E2E94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75473"/>
            <a:ext cx="10515600" cy="646332"/>
          </a:xfrm>
        </p:spPr>
        <p:txBody>
          <a:bodyPr>
            <a:normAutofit fontScale="90000"/>
          </a:bodyPr>
          <a:lstStyle/>
          <a:p>
            <a:r>
              <a:rPr lang="en-US"/>
              <a:t>CCV and LCV for ZT Attributes and Logic Rules</a:t>
            </a:r>
          </a:p>
        </p:txBody>
      </p:sp>
      <p:pic>
        <p:nvPicPr>
          <p:cNvPr id="4" name="Picture 3" descr="A group of white people sitting in chairs&#10;&#10;Description automatically generated">
            <a:extLst>
              <a:ext uri="{FF2B5EF4-FFF2-40B4-BE49-F238E27FC236}">
                <a16:creationId xmlns:a16="http://schemas.microsoft.com/office/drawing/2014/main" id="{FCC03786-02B8-8129-DE9B-998586E9C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8980" y="1207366"/>
            <a:ext cx="1265326" cy="790829"/>
          </a:xfrm>
          <a:prstGeom prst="rect">
            <a:avLst/>
          </a:prstGeom>
        </p:spPr>
      </p:pic>
      <p:pic>
        <p:nvPicPr>
          <p:cNvPr id="5" name="Picture 4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A6218259-B59D-E3AF-8CB1-4D39F8F50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574379" y="1207367"/>
            <a:ext cx="1104856" cy="718156"/>
          </a:xfrm>
          <a:prstGeom prst="rect">
            <a:avLst/>
          </a:prstGeom>
        </p:spPr>
      </p:pic>
      <p:pic>
        <p:nvPicPr>
          <p:cNvPr id="6" name="Picture 5" descr="Silhouette of people sitting around a table&#10;&#10;Description automatically generated">
            <a:extLst>
              <a:ext uri="{FF2B5EF4-FFF2-40B4-BE49-F238E27FC236}">
                <a16:creationId xmlns:a16="http://schemas.microsoft.com/office/drawing/2014/main" id="{6717D431-D66C-1B43-EC63-6C165FACE4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41909" y="935601"/>
            <a:ext cx="1526633" cy="1132253"/>
          </a:xfrm>
          <a:prstGeom prst="rect">
            <a:avLst/>
          </a:prstGeom>
        </p:spPr>
      </p:pic>
      <p:pic>
        <p:nvPicPr>
          <p:cNvPr id="7" name="Picture 6" descr="A group of small people holding puzzle pieces&#10;&#10;Description automatically generated">
            <a:extLst>
              <a:ext uri="{FF2B5EF4-FFF2-40B4-BE49-F238E27FC236}">
                <a16:creationId xmlns:a16="http://schemas.microsoft.com/office/drawing/2014/main" id="{814A8DBA-902A-A56D-ECD4-E4EA6F1F46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125210" y="1209576"/>
            <a:ext cx="790829" cy="790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C62A46-EEE5-5CFF-B076-9E67B49ADC8B}"/>
              </a:ext>
            </a:extLst>
          </p:cNvPr>
          <p:cNvSpPr txBox="1"/>
          <p:nvPr/>
        </p:nvSpPr>
        <p:spPr>
          <a:xfrm>
            <a:off x="2876578" y="860214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DoD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0AB3A-DD86-5850-5DF0-DD4E7F913819}"/>
              </a:ext>
            </a:extLst>
          </p:cNvPr>
          <p:cNvSpPr txBox="1"/>
          <p:nvPr/>
        </p:nvSpPr>
        <p:spPr>
          <a:xfrm>
            <a:off x="4805116" y="86021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DoD CIO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E64C7-4441-092A-7FDA-BC3D66FDCFB4}"/>
              </a:ext>
            </a:extLst>
          </p:cNvPr>
          <p:cNvSpPr txBox="1"/>
          <p:nvPr/>
        </p:nvSpPr>
        <p:spPr>
          <a:xfrm>
            <a:off x="6878065" y="830064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DoD CIO(CS)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0F097-448B-F295-932C-19430176693A}"/>
              </a:ext>
            </a:extLst>
          </p:cNvPr>
          <p:cNvSpPr txBox="1"/>
          <p:nvPr/>
        </p:nvSpPr>
        <p:spPr>
          <a:xfrm>
            <a:off x="8957008" y="789317"/>
            <a:ext cx="1127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/>
              <a:t>DoD CIO(CS) </a:t>
            </a:r>
          </a:p>
          <a:p>
            <a:pPr algn="ctr"/>
            <a:r>
              <a:rPr lang="en-US" sz="1400"/>
              <a:t>ZT </a:t>
            </a:r>
            <a:r>
              <a:rPr lang="en-US" sz="1400" err="1"/>
              <a:t>PfMO</a:t>
            </a:r>
            <a:endParaRPr lang="en-US" sz="1400"/>
          </a:p>
        </p:txBody>
      </p:sp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95E83080-31CC-BFA8-F5DE-617888E6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678612"/>
              </p:ext>
            </p:extLst>
          </p:nvPr>
        </p:nvGraphicFramePr>
        <p:xfrm>
          <a:off x="609601" y="2053619"/>
          <a:ext cx="11087946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292">
                  <a:extLst>
                    <a:ext uri="{9D8B030D-6E8A-4147-A177-3AD203B41FA5}">
                      <a16:colId xmlns:a16="http://schemas.microsoft.com/office/drawing/2014/main" val="40309229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03237218"/>
                    </a:ext>
                  </a:extLst>
                </a:gridCol>
                <a:gridCol w="1575609">
                  <a:extLst>
                    <a:ext uri="{9D8B030D-6E8A-4147-A177-3AD203B41FA5}">
                      <a16:colId xmlns:a16="http://schemas.microsoft.com/office/drawing/2014/main" val="529841060"/>
                    </a:ext>
                  </a:extLst>
                </a:gridCol>
                <a:gridCol w="2140568">
                  <a:extLst>
                    <a:ext uri="{9D8B030D-6E8A-4147-A177-3AD203B41FA5}">
                      <a16:colId xmlns:a16="http://schemas.microsoft.com/office/drawing/2014/main" val="3186573101"/>
                    </a:ext>
                  </a:extLst>
                </a:gridCol>
                <a:gridCol w="4770810">
                  <a:extLst>
                    <a:ext uri="{9D8B030D-6E8A-4147-A177-3AD203B41FA5}">
                      <a16:colId xmlns:a16="http://schemas.microsoft.com/office/drawing/2014/main" val="50388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/>
                        <a:t>Term ID (LCV)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ORG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Alias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CCV Attribute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Logic Rule  (Business Rule)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6692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/>
                        <a:t>0x0000E134,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0x00002145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Person,</a:t>
                      </a:r>
                    </a:p>
                    <a:p>
                      <a:r>
                        <a:rPr lang="en-US" sz="1300"/>
                        <a:t>Credential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0x00000000-0x00000001, 0x00000000-0x00000005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i="1"/>
                        <a:t>Language Rule: </a:t>
                      </a:r>
                      <a:r>
                        <a:rPr lang="en-US" sz="1300"/>
                        <a:t>Check if </a:t>
                      </a:r>
                      <a:r>
                        <a:rPr lang="en-US" sz="1300" b="1"/>
                        <a:t>Person Credential </a:t>
                      </a:r>
                      <a:r>
                        <a:rPr lang="en-US" sz="1300"/>
                        <a:t>is valid  </a:t>
                      </a:r>
                    </a:p>
                    <a:p>
                      <a:r>
                        <a:rPr lang="en-US" sz="1050"/>
                        <a:t>Machine Rule: Check if 0x00000000-0x00000001 0x00000000-0x00000005 is valid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02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0x00062A57,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0x0000E134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DoD 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User,</a:t>
                      </a:r>
                    </a:p>
                    <a:p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MFA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0x00000000-0x00000001,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0x00000000-0x00000005</a:t>
                      </a: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1">
                          <a:solidFill>
                            <a:schemeClr val="bg1"/>
                          </a:solidFill>
                        </a:rPr>
                        <a:t>Language Rule: </a:t>
                      </a: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Check if 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</a:rPr>
                        <a:t>User MFA </a:t>
                      </a: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is valid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Machine Rule: Check if 0x00000000-0x00000001 0x00000000-0x00000005 is valid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2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0x030115E3,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0x00000250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DoD CIO(CS)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Person-Entity,</a:t>
                      </a:r>
                    </a:p>
                    <a:p>
                      <a:r>
                        <a:rPr lang="en-US" sz="1300"/>
                        <a:t>Authorized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0x00000000-0x00000001,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0x00000000-0x00000005</a:t>
                      </a: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1"/>
                        <a:t>Language Rule: </a:t>
                      </a:r>
                      <a:r>
                        <a:rPr lang="en-US" sz="1300"/>
                        <a:t>Check if </a:t>
                      </a:r>
                      <a:r>
                        <a:rPr lang="en-US" sz="1300" b="1"/>
                        <a:t>Person-Entity </a:t>
                      </a:r>
                      <a:r>
                        <a:rPr lang="en-US" sz="1300" b="0"/>
                        <a:t>is</a:t>
                      </a:r>
                      <a:r>
                        <a:rPr lang="en-US" sz="1300" b="1"/>
                        <a:t> Authorized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Machine Rule: Check if 0x00000000-0x00000001 0x00000000-0x00000005 is valid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5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0x0000F901,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0x00341102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DoD CIO(CS)</a:t>
                      </a:r>
                    </a:p>
                    <a:p>
                      <a:r>
                        <a:rPr lang="en-US" sz="1300"/>
                        <a:t>ZT </a:t>
                      </a:r>
                      <a:r>
                        <a:rPr lang="en-US" sz="1300" err="1"/>
                        <a:t>PfMO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Actor,</a:t>
                      </a:r>
                    </a:p>
                    <a:p>
                      <a:r>
                        <a:rPr lang="en-US" sz="1300"/>
                        <a:t>Credential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0x00000000-0x00000001,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0x00000000-0x00000005</a:t>
                      </a: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1"/>
                        <a:t>Language Rule: </a:t>
                      </a:r>
                      <a:r>
                        <a:rPr lang="en-US" sz="1300"/>
                        <a:t>Check if </a:t>
                      </a:r>
                      <a:r>
                        <a:rPr lang="en-US" sz="1300" b="1"/>
                        <a:t>Actor</a:t>
                      </a:r>
                      <a:r>
                        <a:rPr lang="en-US" sz="1300"/>
                        <a:t> </a:t>
                      </a:r>
                      <a:r>
                        <a:rPr lang="en-US" sz="1300" b="1"/>
                        <a:t>Credential </a:t>
                      </a:r>
                      <a:r>
                        <a:rPr lang="en-US" sz="1300"/>
                        <a:t>is valid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Machine Rule: Check if 0x00000000-0x00000001 0x00000000-0x00000005 is valid</a:t>
                      </a:r>
                      <a:endParaRPr kumimoji="0" lang="en-US" sz="13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9044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011487D-AA7D-FC9A-6AC9-78FAC6E42599}"/>
              </a:ext>
            </a:extLst>
          </p:cNvPr>
          <p:cNvSpPr txBox="1"/>
          <p:nvPr/>
        </p:nvSpPr>
        <p:spPr>
          <a:xfrm>
            <a:off x="540503" y="1354074"/>
            <a:ext cx="1537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Organizational</a:t>
            </a:r>
          </a:p>
          <a:p>
            <a:r>
              <a:rPr lang="en-US"/>
              <a:t>Communities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B6A70B-0BB6-2AF0-FF01-5DC8DF7D5111}"/>
              </a:ext>
            </a:extLst>
          </p:cNvPr>
          <p:cNvSpPr txBox="1"/>
          <p:nvPr/>
        </p:nvSpPr>
        <p:spPr>
          <a:xfrm>
            <a:off x="540503" y="6212786"/>
            <a:ext cx="36471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/>
              <a:t>Note:  This is not live data and for conceptual consideration only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14A8965-AEC8-8E73-9B76-767386D9B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852592"/>
              </p:ext>
            </p:extLst>
          </p:nvPr>
        </p:nvGraphicFramePr>
        <p:xfrm>
          <a:off x="609601" y="4826211"/>
          <a:ext cx="11087946" cy="11715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6335">
                  <a:extLst>
                    <a:ext uri="{9D8B030D-6E8A-4147-A177-3AD203B41FA5}">
                      <a16:colId xmlns:a16="http://schemas.microsoft.com/office/drawing/2014/main" val="796971367"/>
                    </a:ext>
                  </a:extLst>
                </a:gridCol>
                <a:gridCol w="1303090">
                  <a:extLst>
                    <a:ext uri="{9D8B030D-6E8A-4147-A177-3AD203B41FA5}">
                      <a16:colId xmlns:a16="http://schemas.microsoft.com/office/drawing/2014/main" val="3540939679"/>
                    </a:ext>
                  </a:extLst>
                </a:gridCol>
                <a:gridCol w="1034717">
                  <a:extLst>
                    <a:ext uri="{9D8B030D-6E8A-4147-A177-3AD203B41FA5}">
                      <a16:colId xmlns:a16="http://schemas.microsoft.com/office/drawing/2014/main" val="487064525"/>
                    </a:ext>
                  </a:extLst>
                </a:gridCol>
                <a:gridCol w="2169304">
                  <a:extLst>
                    <a:ext uri="{9D8B030D-6E8A-4147-A177-3AD203B41FA5}">
                      <a16:colId xmlns:a16="http://schemas.microsoft.com/office/drawing/2014/main" val="119193723"/>
                    </a:ext>
                  </a:extLst>
                </a:gridCol>
                <a:gridCol w="2312428">
                  <a:extLst>
                    <a:ext uri="{9D8B030D-6E8A-4147-A177-3AD203B41FA5}">
                      <a16:colId xmlns:a16="http://schemas.microsoft.com/office/drawing/2014/main" val="429009589"/>
                    </a:ext>
                  </a:extLst>
                </a:gridCol>
                <a:gridCol w="2882072">
                  <a:extLst>
                    <a:ext uri="{9D8B030D-6E8A-4147-A177-3AD203B41FA5}">
                      <a16:colId xmlns:a16="http://schemas.microsoft.com/office/drawing/2014/main" val="247183665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UID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CCV Term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Alias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Definition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Context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Context Description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98193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{Machine Generated}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US" sz="1100"/>
                        <a:t>0x00000000-0x00000001</a:t>
                      </a:r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Person, User, Person-Entity, Actor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 participant in a process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OSD, Zero Trust, Information Domain, Cybersecurity, Zero Trust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Any process that has an action performed will have an actor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3222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{Machine Generated}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US" sz="1100"/>
                        <a:t>0x00000000-0x00000005</a:t>
                      </a:r>
                      <a:r>
                        <a:rPr lang="en-US" sz="1100" b="1" i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Credential, MFA,  Authorized  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Evidence of proof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OSD, Zero Trust, Information Domain, Cybersecurity, Zero Trust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The authoritative asset that asserts the object (or actor) has a confirmed identity.</a:t>
                      </a:r>
                      <a:endParaRPr lang="en-US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028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009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4CA9-6B27-ABE4-4654-983AE0AE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UID and CCV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B658-A880-D8DE-B068-53A9226ED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217" y="1644712"/>
            <a:ext cx="9861556" cy="472899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DoD digital asset tracking is required for Attributes &amp; Logic Rules </a:t>
            </a:r>
          </a:p>
          <a:p>
            <a:r>
              <a:rPr lang="en-US"/>
              <a:t>Attributes must have semantic congruence</a:t>
            </a:r>
          </a:p>
          <a:p>
            <a:pPr lvl="1"/>
            <a:r>
              <a:rPr lang="en-US"/>
              <a:t>Same meaning in use</a:t>
            </a:r>
          </a:p>
          <a:p>
            <a:pPr lvl="1"/>
            <a:r>
              <a:rPr lang="en-US"/>
              <a:t>Language agnostic for all Terms </a:t>
            </a:r>
          </a:p>
          <a:p>
            <a:pPr lvl="2"/>
            <a:r>
              <a:rPr lang="en-US"/>
              <a:t>Spoken Language uses Words</a:t>
            </a:r>
          </a:p>
          <a:p>
            <a:pPr lvl="2"/>
            <a:r>
              <a:rPr lang="en-US"/>
              <a:t>Battle Network use both Words and Numbers</a:t>
            </a:r>
          </a:p>
          <a:p>
            <a:r>
              <a:rPr lang="en-US"/>
              <a:t>Independently authored Logic Rules produce the same outcome</a:t>
            </a:r>
          </a:p>
          <a:p>
            <a:pPr lvl="1"/>
            <a:r>
              <a:rPr lang="en-US"/>
              <a:t>Logic is congruent even if expression is slightly different</a:t>
            </a:r>
          </a:p>
          <a:p>
            <a:pPr lvl="1"/>
            <a:r>
              <a:rPr lang="en-US"/>
              <a:t>Use of attributes and values must be aligned for any Logic Rule</a:t>
            </a:r>
          </a:p>
          <a:p>
            <a:r>
              <a:rPr lang="en-US"/>
              <a:t>ZT owns specific Attributes and must share enterprise-wide</a:t>
            </a:r>
          </a:p>
          <a:p>
            <a:r>
              <a:rPr lang="en-US"/>
              <a:t>ZT oversees Access Control behavioral outcomes</a:t>
            </a:r>
            <a:endParaRPr lang="en-US" sz="14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FB6B-681C-58A4-2470-139067DC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2DAF4-3D39-D379-EA16-CAF6147F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UID and CCV are building block enablers for ZT</a:t>
            </a:r>
          </a:p>
          <a:p>
            <a:pPr lvl="1"/>
            <a:r>
              <a:rPr lang="en-US"/>
              <a:t>Asset Tracking</a:t>
            </a:r>
          </a:p>
          <a:p>
            <a:pPr lvl="1"/>
            <a:r>
              <a:rPr lang="en-US"/>
              <a:t>Consistent term use</a:t>
            </a:r>
          </a:p>
          <a:p>
            <a:r>
              <a:rPr lang="en-US"/>
              <a:t>Confidence in Logic Rules outcome is critical</a:t>
            </a:r>
          </a:p>
          <a:p>
            <a:pPr lvl="1"/>
            <a:r>
              <a:rPr lang="en-US"/>
              <a:t>[needed] regular-expression English-like rules engine</a:t>
            </a:r>
          </a:p>
          <a:p>
            <a:pPr lvl="2"/>
            <a:r>
              <a:rPr lang="en-US"/>
              <a:t>Any functional author can create logic expressions</a:t>
            </a:r>
          </a:p>
          <a:p>
            <a:pPr lvl="2"/>
            <a:r>
              <a:rPr lang="en-US"/>
              <a:t>Logic expressions can be shared as machine code with CCV terms</a:t>
            </a:r>
          </a:p>
          <a:p>
            <a:pPr lvl="1"/>
            <a:r>
              <a:rPr lang="en-US"/>
              <a:t>Pre-computed matrix allows all “partners” to achieve and validate outcomes</a:t>
            </a:r>
          </a:p>
          <a:p>
            <a:r>
              <a:rPr lang="en-US"/>
              <a:t>Enforcement Services receive clear and precise data</a:t>
            </a:r>
          </a:p>
          <a:p>
            <a:pPr lvl="1"/>
            <a:r>
              <a:rPr lang="en-US"/>
              <a:t>Binary outcomes eliminate the need to risk-based tolerance thresholds</a:t>
            </a:r>
          </a:p>
          <a:p>
            <a:pPr lvl="1"/>
            <a:r>
              <a:rPr lang="en-US"/>
              <a:t>Rules are directly consumed dynamically and improve responsiveness</a:t>
            </a:r>
          </a:p>
          <a:p>
            <a:pPr lvl="2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29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9d2a163-4a9a-4a04-8f64-937ad5e9b62f">
      <Terms xmlns="http://schemas.microsoft.com/office/infopath/2007/PartnerControls"/>
    </lcf76f155ced4ddcb4097134ff3c332f>
    <TaxCatchAll xmlns="6ea679e4-b412-4811-b7ef-747f3dc63a3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D30AED678EEE4D8BBB45998DBE6F45" ma:contentTypeVersion="14" ma:contentTypeDescription="Create a new document." ma:contentTypeScope="" ma:versionID="9d22b523fa4e2c9cfda7f52ea3c6692f">
  <xsd:schema xmlns:xsd="http://www.w3.org/2001/XMLSchema" xmlns:xs="http://www.w3.org/2001/XMLSchema" xmlns:p="http://schemas.microsoft.com/office/2006/metadata/properties" xmlns:ns2="19d2a163-4a9a-4a04-8f64-937ad5e9b62f" xmlns:ns3="6ea679e4-b412-4811-b7ef-747f3dc63a38" targetNamespace="http://schemas.microsoft.com/office/2006/metadata/properties" ma:root="true" ma:fieldsID="8e0d418e532617d6314020d2d7d05b3b" ns2:_="" ns3:_="">
    <xsd:import namespace="19d2a163-4a9a-4a04-8f64-937ad5e9b62f"/>
    <xsd:import namespace="6ea679e4-b412-4811-b7ef-747f3dc63a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d2a163-4a9a-4a04-8f64-937ad5e9b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76964e-7e33-4fc0-9ca8-8dfa34fa0c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679e4-b412-4811-b7ef-747f3dc63a3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19c559a-2f24-4bcb-9893-68a4506392dd}" ma:internalName="TaxCatchAll" ma:showField="CatchAllData" ma:web="6ea679e4-b412-4811-b7ef-747f3dc63a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EC37D3-1FD2-4329-8EF2-B3A4AA7DA4AC}">
  <ds:schemaRefs>
    <ds:schemaRef ds:uri="076269c1-89de-4d12-8d8a-a55afb267c73"/>
    <ds:schemaRef ds:uri="a1bda2cf-5337-4fc2-99ef-1e002550893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  <ds:schemaRef ds:uri="19d2a163-4a9a-4a04-8f64-937ad5e9b62f"/>
    <ds:schemaRef ds:uri="6ea679e4-b412-4811-b7ef-747f3dc63a38"/>
  </ds:schemaRefs>
</ds:datastoreItem>
</file>

<file path=customXml/itemProps2.xml><?xml version="1.0" encoding="utf-8"?>
<ds:datastoreItem xmlns:ds="http://schemas.openxmlformats.org/officeDocument/2006/customXml" ds:itemID="{9FCA6AD9-4A20-4DDE-A959-7187C842A6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d2a163-4a9a-4a04-8f64-937ad5e9b62f"/>
    <ds:schemaRef ds:uri="6ea679e4-b412-4811-b7ef-747f3dc63a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4CDB30-AB2B-4803-99DB-16F314A7D1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UID and CCV Applied</vt:lpstr>
      <vt:lpstr>UID for ZT</vt:lpstr>
      <vt:lpstr>Applying UID to ZT Attributes</vt:lpstr>
      <vt:lpstr>CCV and LCV for ZT Attributes and Logic Rules</vt:lpstr>
      <vt:lpstr>Why is UID and CCV Important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UID and CCV Applied</dc:title>
  <dc:creator/>
  <cp:revision>8</cp:revision>
  <dcterms:created xsi:type="dcterms:W3CDTF">2024-11-06T12:23:20Z</dcterms:created>
  <dcterms:modified xsi:type="dcterms:W3CDTF">2026-01-29T13:21:59Z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0x010100CED30AED678EEE4D8BBB45998DBE6F45</vt:lpwstr>
  </property>
  <property fmtid="{D5CDD505-2E9C-101B-9397-08002B2CF9AE}" pid="3" name="MediaServiceImageTags">
    <vt:lpwstr/>
  </property>
  <property fmtid="{D5CDD505-2E9C-101B-9397-08002B2CF9AE}" pid="4" name="Project">
    <vt:lpwstr/>
  </property>
  <property fmtid="{D5CDD505-2E9C-101B-9397-08002B2CF9AE}" pid="5" name="Document_x0020_Type">
    <vt:lpwstr/>
  </property>
  <property fmtid="{D5CDD505-2E9C-101B-9397-08002B2CF9AE}" pid="6" name="Document_x0020_Status">
    <vt:lpwstr/>
  </property>
  <property fmtid="{D5CDD505-2E9C-101B-9397-08002B2CF9AE}" pid="7" name="RecordCategory">
    <vt:lpwstr/>
  </property>
  <property fmtid="{D5CDD505-2E9C-101B-9397-08002B2CF9AE}" pid="8" name="RecordsCategory">
    <vt:lpwstr/>
  </property>
  <property fmtid="{D5CDD505-2E9C-101B-9397-08002B2CF9AE}" pid="9" name="Document_x0020_Category">
    <vt:lpwstr/>
  </property>
  <property fmtid="{D5CDD505-2E9C-101B-9397-08002B2CF9AE}" pid="10" name="Document Status">
    <vt:lpwstr/>
  </property>
  <property fmtid="{D5CDD505-2E9C-101B-9397-08002B2CF9AE}" pid="11" name="Document Type">
    <vt:lpwstr/>
  </property>
  <property fmtid="{D5CDD505-2E9C-101B-9397-08002B2CF9AE}" pid="12" name="Document Category">
    <vt:lpwstr/>
  </property>
</Properties>
</file>